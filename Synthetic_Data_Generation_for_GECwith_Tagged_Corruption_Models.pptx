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Synthetic Data Generation for GEC</a:t>
            </a:r>
            <a:br/>
            <a:r>
              <a:rPr/>
              <a:t>with Tagged Corruption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Autors: Stahlberg &amp; Kumar</a:t>
            </a:r>
            <a:br/>
            <a:r>
              <a:rPr/>
              <a:t>Google Research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Paper from: BEA Workshop, ACL 2021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Problem GEC systems need parallel data: </a:t>
                </a:r>
                <a:r>
                  <a:rPr i="1"/>
                  <a:t>ungrammatical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:r>
                  <a:rPr i="1"/>
                  <a:t>grammatical</a:t>
                </a:r>
                <a:r>
                  <a:rPr/>
                  <a:t>.</a:t>
                </a:r>
                <a:br/>
                <a:r>
                  <a:rPr/>
                  <a:t>Real annotated data is scarce, so we generate it synthetically.</a:t>
                </a:r>
                <a:br/>
                <a:r>
                  <a:rPr b="1"/>
                  <a:t>But existing methods produce simplistic, repetitive errors</a:t>
                </a:r>
                <a:r>
                  <a:rPr/>
                  <a:t> that don’t reflect the range of mistakes real writers make.</a:t>
                </a:r>
              </a:p>
              <a:p>
                <a:pPr lvl="0" indent="0" marL="0">
                  <a:buNone/>
                </a:pPr>
                <a:r>
                  <a:rPr/>
                  <a:t>The Idea Condition the corruption model on an </a:t>
                </a:r>
                <a:r>
                  <a:rPr b="1"/>
                  <a:t>error type tag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:r>
                  <a:rPr>
                    <a:latin typeface="Courier"/>
                  </a:rPr>
                  <a:t>NOUN:INFL</a:t>
                </a:r>
                <a:r>
                  <a:rPr/>
                  <a:t> + </a:t>
                </a:r>
                <a:r>
                  <a:rPr i="1"/>
                  <a:t>“There were a lot of sheep.”</a:t>
                </a:r>
                <a:br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↓</m:t>
                    </m:r>
                  </m:oMath>
                </a14:m>
                <a:br/>
                <a:r>
                  <a:rPr i="1"/>
                  <a:t>“There were a lot of </a:t>
                </a:r>
                <a:r>
                  <a:rPr b="1" i="1"/>
                  <a:t>sheeps</a:t>
                </a:r>
                <a:r>
                  <a:rPr i="1"/>
                  <a:t>.”</a:t>
                </a:r>
              </a:p>
              <a:p>
                <a:pPr lvl="0" indent="0" marL="0">
                  <a:buNone/>
                </a:pPr>
                <a:r>
                  <a:rPr/>
                  <a:t>Tags come from ERRANT: an automatic error annotation tool with 25 categories.</a:t>
                </a:r>
              </a:p>
              <a:p>
                <a:pPr lvl="0" indent="0" marL="0">
                  <a:buNone/>
                </a:pPr>
                <a:r>
                  <a:rPr/>
                  <a:t>What is ERRANT? ERRANT (ERRor ANnotation Toolkit) is an automatic tool for annotating grammatical errors in parallel text (original + corrected sentence pairs).</a:t>
                </a:r>
                <a:br/>
                <a:r>
                  <a:rPr b="1"/>
                  <a:t>What it does:</a:t>
                </a:r>
              </a:p>
              <a:p>
                <a:pPr lvl="0"/>
                <a:r>
                  <a:rPr/>
                  <a:t>Aligns the original and corrected sentences at the token level</a:t>
                </a:r>
              </a:p>
              <a:p>
                <a:pPr lvl="0"/>
                <a:r>
                  <a:rPr/>
                  <a:t>Identifies the spans that were changed</a:t>
                </a:r>
              </a:p>
              <a:p>
                <a:pPr lvl="0"/>
                <a:r>
                  <a:rPr/>
                  <a:t>Assigns each change an error type tag from a fixed taxonomy of 25 categories</a:t>
                </a:r>
              </a:p>
              <a:p>
                <a:pPr lvl="0" indent="0" marL="0">
                  <a:buNone/>
                </a:pPr>
                <a:r>
                  <a:rPr b="1"/>
                  <a:t>Example tags:</a:t>
                </a:r>
              </a:p>
              <a:p>
                <a:pPr lvl="0"/>
                <a:r>
                  <a:rPr>
                    <a:latin typeface="Courier"/>
                  </a:rPr>
                  <a:t>VERB:SVA</a:t>
                </a:r>
                <a:r>
                  <a:rPr/>
                  <a:t> — subject-verb agreement error</a:t>
                </a:r>
              </a:p>
              <a:p>
                <a:pPr lvl="0"/>
                <a:r>
                  <a:rPr>
                    <a:latin typeface="Courier"/>
                  </a:rPr>
                  <a:t>NOUN:INFL</a:t>
                </a:r>
                <a:r>
                  <a:rPr/>
                  <a:t> — noun inflection error (</a:t>
                </a:r>
                <a:r>
                  <a:rPr i="1"/>
                  <a:t>sheeps</a:t>
                </a:r>
                <a:r>
                  <a:rPr/>
                  <a:t> for </a:t>
                </a:r>
                <a:r>
                  <a:rPr i="1"/>
                  <a:t>sheep</a:t>
                </a:r>
                <a:r>
                  <a:rPr/>
                  <a:t>)</a:t>
                </a:r>
              </a:p>
              <a:p>
                <a:pPr lvl="0"/>
                <a:r>
                  <a:rPr>
                    <a:latin typeface="Courier"/>
                  </a:rPr>
                  <a:t>DET</a:t>
                </a:r>
                <a:r>
                  <a:rPr/>
                  <a:t> — missing or incorrect determiner</a:t>
                </a:r>
              </a:p>
              <a:p>
                <a:pPr lvl="0"/>
                <a:r>
                  <a:rPr>
                    <a:latin typeface="Courier"/>
                  </a:rPr>
                  <a:t>SPELL</a:t>
                </a:r>
                <a:r>
                  <a:rPr/>
                  <a:t> — spelling error</a:t>
                </a:r>
              </a:p>
              <a:p>
                <a:pPr lvl="0" indent="0" marL="0">
                  <a:buNone/>
                </a:pPr>
                <a:r>
                  <a:rPr/>
                  <a:t>In this paper, ERRANT serves two roles: training the corruption models (by providing tagged examples) and evaluating GEC systems (via span-based F</a:t>
                </a:r>
                <a:r>
                  <a:rPr baseline="-25000"/>
                  <a:t>0.5</a:t>
                </a:r>
                <a:r>
                  <a:rPr/>
                  <a:t> scoring).</a:t>
                </a:r>
              </a:p>
              <a:p>
                <a:pPr lvl="0" indent="0" marL="0">
                  <a:buNone/>
                </a:pPr>
                <a:r>
                  <a:rPr/>
                  <a:t>Two Corruption Model Variants</a:t>
                </a:r>
              </a:p>
              <a:p>
                <a:pPr lvl="0" indent="0" marL="0">
                  <a:buNone/>
                </a:pPr>
                <a:r>
                  <a:rPr b="1"/>
                  <a:t>Full-sequence Transformer</a:t>
                </a:r>
              </a:p>
              <a:p>
                <a:pPr lvl="0" indent="0" marL="1270000">
                  <a:buNone/>
                </a:pPr>
                <a:r>
                  <a:rPr sz="2000"/>
                  <a:t>Tag prepended to the input. Standard decoder generates the full corrupted sentence.</a:t>
                </a:r>
                <a:br/>
              </a:p>
              <a:p>
                <a:pPr lvl="0" indent="0" marL="0">
                  <a:buNone/>
                </a:pPr>
                <a:r>
                  <a:rPr b="1"/>
                  <a:t>Seq2Edits</a:t>
                </a:r>
              </a:p>
              <a:p>
                <a:pPr lvl="0" indent="0" marL="1270000">
                  <a:buNone/>
                </a:pPr>
                <a:r>
                  <a:rPr sz="2000"/>
                  <a:t>Predicts span-level edits rather than full sequences. Tags live on the </a:t>
                </a:r>
                <a:r>
                  <a:rPr sz="2000" i="1"/>
                  <a:t>output</a:t>
                </a:r>
                <a:r>
                  <a:rPr sz="2000"/>
                  <a:t> tape. Can be constrained at inference time using finite state transducers (FSTs)* to force it to include a specific ERRANT error tag in its output during beam search</a:t>
                </a:r>
              </a:p>
              <a:p>
                <a:pPr lvl="0" indent="0" marL="0">
                  <a:buNone/>
                </a:pPr>
                <a:r>
                  <a:rPr/>
                  <a:t>Seq2Edits is a better fit: error type prediction is native to the model.</a:t>
                </a:r>
                <a:br/>
                <a:r>
                  <a:rPr/>
                  <a:t>*A Finite State Transducer (FST) is a computational model that reads an input sequence and produces an output sequence according to a fixed set of rules and states.</a:t>
                </a:r>
              </a:p>
              <a:p>
                <a:pPr lvl="0" indent="0" marL="0">
                  <a:buNone/>
                </a:pPr>
                <a:r>
                  <a:rPr/>
                  <a:t>Constraining Seq2Edits with FSTs At inference time, an FST constrains beam search to produce a specific tag.</a:t>
                </a:r>
                <a:br/>
                <a:r>
                  <a:rPr/>
                  <a:t>Three variants tested (e.g., forcing </a:t>
                </a:r>
                <a:r>
                  <a:rPr>
                    <a:latin typeface="Courier"/>
                  </a:rPr>
                  <a:t>SPELL</a:t>
                </a:r>
                <a:r>
                  <a:rPr/>
                  <a:t>):</a:t>
                </a:r>
              </a:p>
              <a:p>
                <a:pPr lvl="0"/>
                <a:r>
                  <a:rPr b="1"/>
                  <a:t>NoSigma</a:t>
                </a:r>
                <a:r>
                  <a:rPr/>
                  <a:t>: output can </a:t>
                </a:r>
                <a:r>
                  <a:rPr i="1"/>
                  <a:t>only</a:t>
                </a:r>
                <a:r>
                  <a:rPr/>
                  <a:t> contain </a:t>
                </a:r>
                <a:r>
                  <a:rPr>
                    <a:latin typeface="Courier"/>
                  </a:rPr>
                  <a:t>SPELL</a:t>
                </a:r>
                <a:r>
                  <a:rPr/>
                  <a:t> or </a:t>
                </a:r>
                <a:r>
                  <a:rPr>
                    <a:latin typeface="Courier"/>
                  </a:rPr>
                  <a:t>SELF</a:t>
                </a:r>
              </a:p>
              <a:p>
                <a:pPr lvl="0"/>
                <a:r>
                  <a:rPr b="1"/>
                  <a:t>PostSigma</a:t>
                </a:r>
                <a:r>
                  <a:rPr/>
                  <a:t>: other tags allowed </a:t>
                </a:r>
                <a:r>
                  <a:rPr i="1"/>
                  <a:t>after</a:t>
                </a:r>
                <a:r>
                  <a:rPr/>
                  <a:t> </a:t>
                </a:r>
                <a:r>
                  <a:rPr>
                    <a:latin typeface="Courier"/>
                  </a:rPr>
                  <a:t>SPELL</a:t>
                </a:r>
                <a:r>
                  <a:rPr/>
                  <a:t> fires</a:t>
                </a:r>
              </a:p>
              <a:p>
                <a:pPr lvl="0"/>
                <a:r>
                  <a:rPr b="1"/>
                  <a:t>PrePostSigma</a:t>
                </a:r>
                <a:r>
                  <a:rPr/>
                  <a:t>: other tags allowed before </a:t>
                </a:r>
                <a:r>
                  <a:rPr i="1"/>
                  <a:t>and</a:t>
                </a:r>
                <a:r>
                  <a:rPr/>
                  <a:t> after</a:t>
                </a:r>
              </a:p>
              <a:p>
                <a:pPr lvl="0" indent="0" marL="0">
                  <a:buNone/>
                </a:pPr>
                <a:r>
                  <a:rPr/>
                  <a:t>PostSigma solves the </a:t>
                </a:r>
                <a:r>
                  <a:rPr i="1"/>
                  <a:t>garden-path problem</a:t>
                </a:r>
                <a:r>
                  <a:rPr/>
                  <a:t>: beam search can commit early to an incompatible error, making the target tag impossible to satisfy later.</a:t>
                </a:r>
              </a:p>
              <a:p>
                <a:pPr lvl="0" indent="0" marL="0">
                  <a:buNone/>
                </a:pPr>
                <a:r>
                  <a:rPr b="1"/>
                  <a:t>In practice:</a:t>
                </a:r>
                <a:r>
                  <a:rPr/>
                  <a:t> constrained decoding fails at scale. Final system uses unconstrained tagged Seq2Edits.</a:t>
                </a:r>
              </a:p>
              <a:p>
                <a:pPr lvl="0" indent="0" marL="0">
                  <a:buNone/>
                </a:pPr>
                <a:r>
                  <a:rPr/>
                  <a:t>Matching a Target Tag Distribution Goal: assign one tag per training sentence so the </a:t>
                </a:r>
                <a:r>
                  <a:rPr i="1"/>
                  <a:t>overall</a:t>
                </a:r>
                <a:r>
                  <a:rPr/>
                  <a:t> tag frequencies match a desired distribution </a:t>
                </a:r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m:t>*</m:t>
                        </m:r>
                      </m:sup>
                    </m:sSup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t</m:t>
                        </m:r>
                      </m:e>
                    </m:d>
                  </m:oMath>
                </a14:m>
                <a:r>
                  <a:rPr/>
                  <a:t> (e.g., from the development set).</a:t>
                </a:r>
                <a:br/>
                <a:r>
                  <a:rPr/>
                  <a:t>Three methods compared:</a:t>
                </a:r>
              </a:p>
              <a:p>
                <a:pPr lvl="0"/>
                <a:r>
                  <a:rPr b="1"/>
                  <a:t>Offline-Optimal</a:t>
                </a:r>
                <a:r>
                  <a:rPr/>
                  <a:t>: min-cost flow optimisation. Maximises corruption model score. Produces dull, systematic errors.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  <m:scr m:val="script"/>
                              </m:rPr>
                              <m:t>T</m:t>
                            </m:r>
                          </m:e>
                        </m:d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Offline-Probabilistic</a:t>
                </a:r>
                <a:r>
                  <a:rPr/>
                  <a:t>: sample a tag, then find best-matching sentences.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  <m:d>
                          <m:dPr>
                            <m:begChr m:val="|"/>
                            <m:endChr m:val="|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  <m:scr m:val="script"/>
                              </m:rPr>
                              <m:t>T</m:t>
                            </m:r>
                          </m:e>
                        </m:d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Online</a:t>
                </a:r>
                <a:r>
                  <a:rPr/>
                  <a:t>: sample tag independently for each sentence on-the-fly. </a:t>
                </a:r>
                <a14:m>
                  <m:oMath xmlns:m="http://schemas.openxmlformats.org/officeDocument/2006/math">
                    <m:r>
                      <m:t>O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  <a:r>
                  <a:rPr/>
                  <a:t>. Scales to 200M sentences. </a:t>
                </a:r>
                <a:r>
                  <a:rPr b="1"/>
                  <a:t>Best in practice.</a:t>
                </a:r>
              </a:p>
              <a:p>
                <a:pPr lvl="0" indent="0" marL="0">
                  <a:buNone/>
                </a:pPr>
                <a:r>
                  <a:rPr/>
                  <a:t>Offline-Optimal underperforms because optimising model confidence kills diversity: and diversity is what makes synthetic data useful.</a:t>
                </a:r>
              </a:p>
              <a:p>
                <a:pPr lvl="0" indent="0" marL="0">
                  <a:buNone/>
                </a:pPr>
                <a:r>
                  <a:rPr/>
                  <a:t>Tagged vs. Untagged: BEA-dev F</a:t>
                </a:r>
                <a:r>
                  <a:rPr baseline="-25000"/>
                  <a:t>0.5</a:t>
                </a:r>
              </a:p>
              <a:p>
                <a:pPr lvl="0" indent="0" marL="0">
                  <a:buNone/>
                </a:pPr>
                <a:r>
                  <a:rPr/>
                  <a:t>Tagged corruption closes most of the gap to real data without any real parallel source sentences.</a:t>
                </a:r>
              </a:p>
              <a:p>
                <a:pPr lvl="0" indent="0" marL="0">
                  <a:buNone/>
                </a:pPr>
                <a:r>
                  <a:rPr/>
                  <a:t>Adapting to Native English Native and non-native speakers make </a:t>
                </a:r>
                <a:r>
                  <a:rPr i="1"/>
                  <a:t>different</a:t>
                </a:r>
                <a:r>
                  <a:rPr/>
                  <a:t> errors. Natives write more punctuation (</a:t>
                </a:r>
                <a:r>
                  <a:rPr>
                    <a:latin typeface="Courier"/>
                  </a:rPr>
                  <a:t>PUNCT</a:t>
                </a:r>
                <a:r>
                  <a:rPr/>
                  <a:t>) and spelling (</a:t>
                </a:r>
                <a:r>
                  <a:rPr>
                    <a:latin typeface="Courier"/>
                  </a:rPr>
                  <a:t>SPELL</a:t>
                </a:r>
                <a:r>
                  <a:rPr/>
                  <a:t>) errors; non-natives make more determiner (</a:t>
                </a:r>
                <a:r>
                  <a:rPr>
                    <a:latin typeface="Courier"/>
                  </a:rPr>
                  <a:t>DET</a:t>
                </a:r>
                <a:r>
                  <a:rPr/>
                  <a:t>) errors.</a:t>
                </a:r>
                <a:br/>
              </a:p>
              <a:p>
                <a:pPr lvl="0" indent="0" marL="0">
                  <a:buNone/>
                </a:pPr>
                <a:r>
                  <a:rPr/>
                  <a:t>Matching the native error distribution with synthetic data </a:t>
                </a:r>
                <a:r>
                  <a:rPr b="1"/>
                  <a:t>surpasses real parallel data</a:t>
                </a:r>
                <a:r>
                  <a:rPr/>
                  <a:t> on the native test set.</a:t>
                </a:r>
              </a:p>
              <a:p>
                <a:pPr lvl="0" indent="0" marL="0">
                  <a:buNone/>
                </a:pPr>
                <a:r>
                  <a:rPr/>
                  <a:t>What is Beam Search? Beam search is a decoding algorithm for sequence generation models. At each step, it tracks the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most probable partial sequences (the </a:t>
                </a:r>
                <a:r>
                  <a:rPr i="1"/>
                  <a:t>beam</a:t>
                </a:r>
                <a:r>
                  <a:rPr/>
                  <a:t>) and discards everything else.</a:t>
                </a:r>
                <a:br/>
                <a:r>
                  <a:rPr b="1"/>
                  <a:t>Example with beam width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 b="1"/>
                  <a:t>:</a:t>
                </a:r>
              </a:p>
              <a:p>
                <a:pPr lvl="0"/>
                <a:r>
                  <a:rPr/>
                  <a:t>Step 1: model scores all possible next tokens, keeps top 2</a:t>
                </a:r>
              </a:p>
              <a:p>
                <a:pPr lvl="0"/>
                <a:r>
                  <a:rPr/>
                  <a:t>Step 2: expands each surviving hypothesis, keeps top 2 overall</a:t>
                </a:r>
              </a:p>
              <a:p>
                <a:pPr lvl="0"/>
                <a:r>
                  <a:rPr/>
                  <a:t>Continues until end-of-sequence, returns the highest-scoring result</a:t>
                </a:r>
              </a:p>
              <a:p>
                <a:pPr lvl="0" indent="0" marL="0">
                  <a:buNone/>
                </a:pPr>
                <a:r>
                  <a:rPr b="1"/>
                  <a:t>The tradeoff:</a:t>
                </a:r>
              </a:p>
              <a:p>
                <a:pPr lvl="0"/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is greedy decoding: fast but short-sighted</a:t>
                </a:r>
              </a:p>
              <a:p>
                <a:pPr lvl="0"/>
                <a:r>
                  <a:rPr/>
                  <a:t>Larger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explores more of the search space but never the full distribution</a:t>
                </a:r>
              </a:p>
              <a:p>
                <a:pPr lvl="0"/>
                <a:r>
                  <a:rPr/>
                  <a:t>The final output is always the </a:t>
                </a:r>
                <a:r>
                  <a:rPr i="1"/>
                  <a:t>mode</a:t>
                </a:r>
                <a:r>
                  <a:rPr/>
                  <a:t> of the model’s distribution, not a sample from it</a:t>
                </a:r>
              </a:p>
              <a:p>
                <a:pPr lvl="0" indent="0" marL="0">
                  <a:buNone/>
                </a:pPr>
                <a:r>
                  <a:rPr/>
                  <a:t>Beam search is the standard decoding choice when you want the single best output. It is less suitable when you want </a:t>
                </a:r>
                <a:r>
                  <a:rPr i="1"/>
                  <a:t>diversity</a:t>
                </a:r>
                <a:r>
                  <a:rPr/>
                  <a:t>, because high-probability outputs tend to cluster around the same obvious answer.</a:t>
                </a:r>
              </a:p>
              <a:p>
                <a:pPr lvl="0" indent="0" marL="0">
                  <a:buNone/>
                </a:pPr>
                <a:r>
                  <a:rPr/>
                  <a:t>Beam Search: Two Different Roles In both systems, beam search is used during data generation. But the goal is different in each case.</a:t>
                </a:r>
                <a:br/>
                <a:r>
                  <a:rPr b="1"/>
                  <a:t>Stahlberg &amp; Kumar: beam search hurts.</a:t>
                </a:r>
              </a:p>
              <a:p>
                <a:pPr lvl="0"/>
                <a:r>
                  <a:rPr/>
                  <a:t>The corruption model is asked to realise a specific error type</a:t>
                </a:r>
              </a:p>
              <a:p>
                <a:pPr lvl="0"/>
                <a:r>
                  <a:rPr/>
                  <a:t>Beam search collapses to the single most probable surface form</a:t>
                </a:r>
              </a:p>
              <a:p>
                <a:pPr lvl="0"/>
                <a:r>
                  <a:rPr/>
                  <a:t>Every </a:t>
                </a:r>
                <a:r>
                  <a:rPr>
                    <a:latin typeface="Courier"/>
                  </a:rPr>
                  <a:t>VERB:SVA</a:t>
                </a:r>
                <a:r>
                  <a:rPr/>
                  <a:t> corruption looks the same; the GEC model learns shortcuts</a:t>
                </a:r>
              </a:p>
              <a:p>
                <a:pPr lvl="0"/>
                <a:r>
                  <a:rPr/>
                  <a:t>Sampling from the output distribution produces harder, more varied errors</a:t>
                </a:r>
              </a:p>
              <a:p>
                <a:pPr lvl="0" indent="0" marL="0">
                  <a:buNone/>
                </a:pPr>
                <a:r>
                  <a:rPr b="1"/>
                  <a:t>SeLex-RT: beam search is fine.</a:t>
                </a:r>
              </a:p>
              <a:p>
                <a:pPr lvl="0"/>
                <a:r>
                  <a:rPr/>
                  <a:t>Diversity comes from the pivot language matrix, not the decoder</a:t>
                </a:r>
              </a:p>
              <a:p>
                <a:pPr lvl="0"/>
                <a:r>
                  <a:rPr/>
                  <a:t>Each pivot (bg, en, zh) induces a structurally different error profile</a:t>
                </a:r>
              </a:p>
              <a:p>
                <a:pPr lvl="0"/>
                <a:r>
                  <a:rPr/>
                  <a:t>Within each pivot, you </a:t>
                </a:r>
                <a:r>
                  <a:rPr i="1"/>
                  <a:t>want</a:t>
                </a:r>
                <a:r>
                  <a:rPr/>
                  <a:t> the cleanest possible translation</a:t>
                </a:r>
              </a:p>
              <a:p>
                <a:pPr lvl="0"/>
                <a:r>
                  <a:rPr/>
                  <a:t>Noisy decoding would corrupt the signal, not enrich it</a:t>
                </a:r>
              </a:p>
              <a:p>
                <a:pPr lvl="0" indent="0" marL="0">
                  <a:buNone/>
                </a:pPr>
                <a:r>
                  <a:rPr i="1"/>
                  <a:t>Diversity in the synthetic data matters.</a:t>
                </a:r>
              </a:p>
              <a:p>
                <a:pPr lvl="0" indent="0" marL="0">
                  <a:buNone/>
                </a:pPr>
                <a:r>
                  <a:rPr/>
                  <a:t>Sampling Beats Beam Search During data generation, </a:t>
                </a:r>
                <a:r>
                  <a:rPr i="1"/>
                  <a:t>how</a:t>
                </a:r>
                <a:r>
                  <a:rPr/>
                  <a:t> you decode matters.</a:t>
                </a:r>
                <a:br/>
              </a:p>
              <a:p>
                <a:pPr lvl="0"/>
                <a:r>
                  <a:rPr b="1"/>
                  <a:t>Beam search</a:t>
                </a:r>
                <a:r>
                  <a:rPr/>
                  <a:t> finds the most probable corruption. but the most probable error is also the most predictable one. The GEC model learns surface shortcuts.</a:t>
                </a:r>
                <a:br/>
              </a:p>
              <a:p>
                <a:pPr lvl="0"/>
                <a:r>
                  <a:rPr b="1"/>
                  <a:t>Sampling</a:t>
                </a:r>
                <a:r>
                  <a:rPr/>
                  <a:t> draws from the full output distribution, producing rarer, harder errors. The GEC model has to learn the underlying phenomenon.</a:t>
                </a:r>
              </a:p>
              <a:p>
                <a:pPr lvl="0" indent="0" marL="0">
                  <a:buNone/>
                </a:pPr>
                <a:r>
                  <a:rPr/>
                  <a:t>Same principle as back-translation in MT (Edunov et al., 2018): </a:t>
                </a:r>
                <a:r>
                  <a:rPr i="1"/>
                  <a:t>diversity trumps optimality.</a:t>
                </a:r>
              </a:p>
              <a:p>
                <a:pPr lvl="0" indent="0" marL="0">
                  <a:buNone/>
                </a:pPr>
                <a:r>
                  <a:rPr/>
                  <a:t>C4</a:t>
                </a:r>
                <a:r>
                  <a:rPr baseline="-25000"/>
                  <a:t>200M</a:t>
                </a:r>
                <a:r>
                  <a:rPr/>
                  <a:t> and State of the Art Apply the tagged corruption pipeline to 200M sentences from C4. Use the result as a pre-training corpus.</a:t>
                </a:r>
                <a:br/>
              </a:p>
              <a:p>
                <a:pPr lvl="0" indent="0" marL="0">
                  <a:buNone/>
                </a:pPr>
                <a:r>
                  <a:rPr/>
                  <a:t>SOTA achieved with </a:t>
                </a:r>
                <a:r>
                  <a:rPr b="1"/>
                  <a:t>vanilla Transformers</a:t>
                </a:r>
                <a:r>
                  <a:rPr/>
                  <a:t>. All gains come from the synthetic pre-training data: no new architecture.</a:t>
                </a:r>
              </a:p>
              <a:p>
                <a:pPr lvl="0" indent="0" marL="0">
                  <a:buNone/>
                </a:pPr>
                <a:r>
                  <a:rPr/>
                  <a:t>Summary</a:t>
                </a:r>
              </a:p>
              <a:p>
                <a:pPr lvl="0"/>
                <a:r>
                  <a:rPr/>
                  <a:t>Conditioning corruption on </a:t>
                </a:r>
                <a:r>
                  <a:rPr b="1"/>
                  <a:t>error type tags</a:t>
                </a:r>
                <a:r>
                  <a:rPr/>
                  <a:t> produces more realistic and diverse synthetic GEC data</a:t>
                </a:r>
                <a:br/>
              </a:p>
              <a:p>
                <a:pPr lvl="0"/>
                <a:r>
                  <a:rPr b="1"/>
                  <a:t>Matching the tag distribution</a:t>
                </a:r>
                <a:r>
                  <a:rPr/>
                  <a:t> to a target domain enables effective domain adaptation</a:t>
                </a:r>
                <a:br/>
              </a:p>
              <a:p>
                <a:pPr lvl="0"/>
                <a:r>
                  <a:rPr/>
                  <a:t>Synthetic data with the </a:t>
                </a:r>
                <a:r>
                  <a:rPr b="1"/>
                  <a:t>native error distribution</a:t>
                </a:r>
                <a:r>
                  <a:rPr/>
                  <a:t> outperforms real parallel data on native English</a:t>
                </a:r>
                <a:br/>
              </a:p>
              <a:p>
                <a:pPr lvl="0"/>
                <a:r>
                  <a:rPr b="1"/>
                  <a:t>Sampling</a:t>
                </a:r>
                <a:r>
                  <a:rPr/>
                  <a:t> during generation beats beam search. diversity matters more than optimality</a:t>
                </a:r>
                <a:br/>
              </a:p>
              <a:p>
                <a:pPr lvl="0"/>
                <a:r>
                  <a:rPr/>
                  <a:t>C4</a:t>
                </a:r>
                <a:r>
                  <a:rPr baseline="-25000"/>
                  <a:t>200M</a:t>
                </a:r>
                <a:r>
                  <a:rPr/>
                  <a:t> sets SOTA on BEA-test and CoNLL-14 with no model architecture changes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Data Generation for GEC with Tagged Corruption Models</dc:title>
  <dc:creator>Autors: Stahlberg &amp; Kumar Google Research</dc:creator>
  <cp:keywords/>
  <dcterms:created xsi:type="dcterms:W3CDTF">2026-03-30T23:15:13Z</dcterms:created>
  <dcterms:modified xsi:type="dcterms:W3CDTF">2026-03-30T23:15:13Z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Paper from: BEA Workshop, ACL 2021</vt:lpwstr>
  </property>
</Properties>
</file>